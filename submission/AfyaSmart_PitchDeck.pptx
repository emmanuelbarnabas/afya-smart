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73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Afya Smart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34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DBEAFE"/>
                </a:solidFill>
                <a:latin typeface="Calibri"/>
              </a:rPr>
              <a:t>AI-powered triage &amp; queue management for fairer, faster public healthcare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490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Any phone. No app. No internet. USSD *384#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5778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RIDC PT Innovation Hackathon 2026  ·  Software (Web &amp; Mobile)</a:t>
            </a:r>
          </a:p>
          <a:p>
            <a:pPr algn="l"/>
            <a:r>
              <a:rPr sz="1300" b="0">
                <a:solidFill>
                  <a:srgbClr val="BFDBFE"/>
                </a:solidFill>
                <a:latin typeface="Calibri"/>
              </a:rPr>
              <a:t>Emmanuel Stephen Barnabas  ·  github.com/emmanuelbarnabas/afya-smart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problem: public clinics are slow — and unfairly 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  <a:latin typeface="Calibri"/>
              </a:rPr>
              <a:t>Tanzania · 1 doctor per ~10,000 people; most citizens own a basic phone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Long, opaque queues. </a:t>
            </a:r>
            <a:r>
              <a:rPr sz="1600">
                <a:solidFill>
                  <a:srgbClr val="1E293B"/>
                </a:solidFill>
              </a:rPr>
              <a:t>Patients arrive at 5am, wait 4–6 hours, and never know their position or who is being seen before them.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No triage before arrival. </a:t>
            </a:r>
            <a:r>
              <a:rPr sz="1600">
                <a:solidFill>
                  <a:srgbClr val="1E293B"/>
                </a:solidFill>
              </a:rPr>
              <a:t>A stroke and a refill prescription wait in the same line; the emergency case is discovered too late.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Smartphone-only digital health. </a:t>
            </a:r>
            <a:r>
              <a:rPr sz="1600">
                <a:solidFill>
                  <a:srgbClr val="1E293B"/>
                </a:solidFill>
              </a:rPr>
              <a:t>Apps and QR check-in exclude the majority who use 2G feature phones.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Hidden bias. </a:t>
            </a:r>
            <a:r>
              <a:rPr sz="1600">
                <a:solidFill>
                  <a:srgbClr val="1E293B"/>
                </a:solidFill>
              </a:rPr>
              <a:t>Women, rural patients and walk-ins systematically wait longer — nobody measures it, so nobody fixes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Solution: triage before you leave home, queue before you arrive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USSD on any phone. </a:t>
            </a:r>
            <a:r>
              <a:rPr sz="1600">
                <a:solidFill>
                  <a:srgbClr val="1E293B"/>
                </a:solidFill>
              </a:rPr>
              <a:t>Patient dials *384#, answers a short symptom interview in Kiswahili/English — no smartphone, no internet, no app install.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AI urgency triage. </a:t>
            </a:r>
            <a:r>
              <a:rPr sz="1600">
                <a:solidFill>
                  <a:srgbClr val="1E293B"/>
                </a:solidFill>
              </a:rPr>
              <a:t>ML model (gradient boosting) + rule-based red-flag safety net returns RED / YELLOW / GREEN with a reason.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Smart booking. </a:t>
            </a:r>
            <a:r>
              <a:rPr sz="1600">
                <a:solidFill>
                  <a:srgbClr val="1E293B"/>
                </a:solidFill>
              </a:rPr>
              <a:t>Nearest facility, first free slot with predicted wait — confirmed by SMS with an appointment ID.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Fair live queue. </a:t>
            </a:r>
            <a:r>
              <a:rPr sz="1600">
                <a:solidFill>
                  <a:srgbClr val="1E293B"/>
                </a:solidFill>
              </a:rPr>
              <a:t>One queue per facility on the nurse's dashboard: urgency-banded FIFO, emergency bypass, ageing override.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Accountability. </a:t>
            </a:r>
            <a:r>
              <a:rPr sz="1600">
                <a:solidFill>
                  <a:srgbClr val="1E293B"/>
                </a:solidFill>
              </a:rPr>
              <a:t>A fairness report compares average waits by sex, age, facility and urgency — bias becomes visible and fixable.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How it works — the patient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3566160" cy="1371600"/>
          </a:xfrm>
          <a:prstGeom prst="rect">
            <a:avLst/>
          </a:prstGeom>
          <a:solidFill>
            <a:srgbClr val="EF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3566160" cy="8229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556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4ED8"/>
                </a:solidFill>
                <a:latin typeface="Calibri"/>
              </a:rPr>
              <a:t>1. Dial *384#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USSD session, Kiswahili or English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554480"/>
            <a:ext cx="3566160" cy="1371600"/>
          </a:xfrm>
          <a:prstGeom prst="rect">
            <a:avLst/>
          </a:prstGeom>
          <a:solidFill>
            <a:srgbClr val="EF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554480"/>
            <a:ext cx="3566160" cy="8229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556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4ED8"/>
                </a:solidFill>
                <a:latin typeface="Calibri"/>
              </a:rPr>
              <a:t>2. Describe symptoms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402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Keyword interview → structured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554480"/>
            <a:ext cx="3566160" cy="1371600"/>
          </a:xfrm>
          <a:prstGeom prst="rect">
            <a:avLst/>
          </a:prstGeom>
          <a:solidFill>
            <a:srgbClr val="EF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554480"/>
            <a:ext cx="3566160" cy="8229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7556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4ED8"/>
                </a:solidFill>
                <a:latin typeface="Calibri"/>
              </a:rPr>
              <a:t>3. Triage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402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RED / YELLOW / GREEN + reason + advice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246120"/>
            <a:ext cx="3566160" cy="1371600"/>
          </a:xfrm>
          <a:prstGeom prst="rect">
            <a:avLst/>
          </a:prstGeom>
          <a:solidFill>
            <a:srgbClr val="EF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246120"/>
            <a:ext cx="3566160" cy="8229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4472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4ED8"/>
                </a:solidFill>
                <a:latin typeface="Calibri"/>
              </a:rPr>
              <a:t>4. Book a slot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31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Facility choice, date, time — capacity-aware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3246120"/>
            <a:ext cx="3566160" cy="1371600"/>
          </a:xfrm>
          <a:prstGeom prst="rect">
            <a:avLst/>
          </a:prstGeom>
          <a:solidFill>
            <a:srgbClr val="EF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3246120"/>
            <a:ext cx="3566160" cy="8229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4472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4ED8"/>
                </a:solidFill>
                <a:latin typeface="Calibri"/>
              </a:rPr>
              <a:t>5. SMS confirmation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931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Appointment ID + reminder before the day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246120"/>
            <a:ext cx="3566160" cy="1371600"/>
          </a:xfrm>
          <a:prstGeom prst="rect">
            <a:avLst/>
          </a:prstGeom>
          <a:solidFill>
            <a:srgbClr val="EF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246120"/>
            <a:ext cx="3566160" cy="8229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4472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D4ED8"/>
                </a:solidFill>
                <a:latin typeface="Calibri"/>
              </a:rPr>
              <a:t>6. Fair queue on arrival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931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Position on nurse dashboard, live updates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394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Total time on the phone: under 2 minutes.  Walk-ins and anonymous patients (no SIM) supported.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AI triage: ML where it helps, rules where it must never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67665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Safety net first. </a:t>
            </a:r>
            <a:r>
              <a:rPr sz="1600">
                <a:solidFill>
                  <a:srgbClr val="1E293B"/>
                </a:solidFill>
              </a:rPr>
              <a:t>Rule-based red-flag detection (chest pain, stroke signs, bleeding…) always overrides the model.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Gradient-boosting classifier </a:t>
            </a:r>
            <a:r>
              <a:rPr sz="1600">
                <a:solidFill>
                  <a:srgbClr val="1E293B"/>
                </a:solidFill>
              </a:rPr>
              <a:t>trained on 12,000 synthetic symptom profiles (ml-v2).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Clinician feedback loop. </a:t>
            </a:r>
            <a:r>
              <a:rPr sz="1600">
                <a:solidFill>
                  <a:srgbClr val="1E293B"/>
                </a:solidFill>
              </a:rPr>
              <a:t>Nurse records the real urgency after consultation → measured against prediction → retraining.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Graceful degradation. </a:t>
            </a:r>
            <a:r>
              <a:rPr sz="1600">
                <a:solidFill>
                  <a:srgbClr val="1E293B"/>
                </a:solidFill>
              </a:rPr>
              <a:t>Model load failure falls back to rules-only; every prediction carries a version + reason.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463040"/>
            <a:ext cx="1920240" cy="1417320"/>
          </a:xfrm>
          <a:prstGeom prst="rect">
            <a:avLst/>
          </a:prstGeom>
          <a:solidFill>
            <a:srgbClr val="EF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1463040"/>
            <a:ext cx="73152" cy="14173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162763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4ED8"/>
                </a:solidFill>
                <a:latin typeface="Calibri"/>
              </a:rPr>
              <a:t>89.4%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22402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Overall accuracy (ml-v2)</a:t>
            </a:r>
          </a:p>
        </p:txBody>
      </p:sp>
      <p:sp>
        <p:nvSpPr>
          <p:cNvPr id="9" name="Rectangle 8"/>
          <p:cNvSpPr/>
          <p:nvPr/>
        </p:nvSpPr>
        <p:spPr>
          <a:xfrm>
            <a:off x="9875520" y="1463040"/>
            <a:ext cx="1920240" cy="1417320"/>
          </a:xfrm>
          <a:prstGeom prst="rect">
            <a:avLst/>
          </a:prstGeom>
          <a:solidFill>
            <a:srgbClr val="EF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75520" y="1463040"/>
            <a:ext cx="73152" cy="14173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04120" y="162763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4ED8"/>
                </a:solidFill>
                <a:latin typeface="Calibri"/>
              </a:rPr>
              <a:t>88.4%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04120" y="22402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Recall on EMERGENCY cases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3063240"/>
            <a:ext cx="1920240" cy="1417320"/>
          </a:xfrm>
          <a:prstGeom prst="rect">
            <a:avLst/>
          </a:prstGeom>
          <a:solidFill>
            <a:srgbClr val="EF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3063240"/>
            <a:ext cx="73152" cy="14173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322783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4ED8"/>
                </a:solidFill>
                <a:latin typeface="Calibri"/>
              </a:rPr>
              <a:t>12,000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38404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Training samples /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0" y="3063240"/>
            <a:ext cx="1920240" cy="1417320"/>
          </a:xfrm>
          <a:prstGeom prst="rect">
            <a:avLst/>
          </a:prstGeom>
          <a:solidFill>
            <a:srgbClr val="EF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875520" y="3063240"/>
            <a:ext cx="73152" cy="14173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04120" y="322783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4ED8"/>
                </a:solidFill>
                <a:latin typeface="Calibri"/>
              </a:rPr>
              <a:t>107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04120" y="38404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Automated tests passing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Fairness by design — the feature hackathons rarely 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Measured, not assumed. </a:t>
            </a:r>
            <a:r>
              <a:rPr sz="1600">
                <a:solidFill>
                  <a:srgbClr val="1E293B"/>
                </a:solidFill>
              </a:rPr>
              <a:t>Average and 90th-percentile waits grouped by sex × age band × facility × urgency × walk-in vs booked.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Ageing override. </a:t>
            </a:r>
            <a:r>
              <a:rPr sz="1600">
                <a:solidFill>
                  <a:srgbClr val="1E293B"/>
                </a:solidFill>
              </a:rPr>
              <a:t>priority = urgency_weight × 60 − minutes_waited — a GREEN patient who waited long overtakes a fresh YELLOW.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Emergency bypass is audited. </a:t>
            </a:r>
            <a:r>
              <a:rPr sz="1600">
                <a:solidFill>
                  <a:srgbClr val="1E293B"/>
                </a:solidFill>
              </a:rPr>
              <a:t>Every bypass is flagged and reviewable — speed never erases accountability.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Clinician overrides kept. </a:t>
            </a:r>
            <a:r>
              <a:rPr sz="1600">
                <a:solidFill>
                  <a:srgbClr val="1E293B"/>
                </a:solidFill>
              </a:rPr>
              <a:t>Nurses can re-grade urgency; the override is stored with who/when/why.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Open report. </a:t>
            </a:r>
            <a:r>
              <a:rPr sz="1600">
                <a:solidFill>
                  <a:srgbClr val="1E293B"/>
                </a:solidFill>
              </a:rPr>
              <a:t>/fairness renders the numbers as charts anyone — including patients — can inspect.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  <a:latin typeface="Calibri"/>
              </a:rPr>
              <a:t>Built exactly as proposed — Python-first, deployable on lightweight hosting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72800" cy="658368"/>
          </a:xfrm>
          <a:prstGeom prst="rect">
            <a:avLst/>
          </a:prstGeom>
          <a:solidFill>
            <a:srgbClr val="EF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Calibri"/>
              </a:rPr>
              <a:t>Patient access (no smartphone needed)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481328"/>
            <a:ext cx="6492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USSD &amp; SMS via Africa's Talking 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29968"/>
            <a:ext cx="109728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396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Calibri"/>
              </a:rPr>
              <a:t>Backend /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139696"/>
            <a:ext cx="6492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Python — FastAPI (SQLAlchemy, Alembic migrations)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88336"/>
            <a:ext cx="10972800" cy="658368"/>
          </a:xfrm>
          <a:prstGeom prst="rect">
            <a:avLst/>
          </a:prstGeom>
          <a:solidFill>
            <a:srgbClr val="EF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980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Calibri"/>
              </a:rPr>
              <a:t>AI /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798064"/>
            <a:ext cx="6492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Python — gradient-boosting triage classifier + time-series slot-demand forecast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46704"/>
            <a:ext cx="109728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56432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Calibri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456432"/>
            <a:ext cx="6492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PostgreSQL (production) / SQLite (offline demo) — same models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05072"/>
            <a:ext cx="10972800" cy="658368"/>
          </a:xfrm>
          <a:prstGeom prst="rect">
            <a:avLst/>
          </a:prstGeom>
          <a:solidFill>
            <a:srgbClr val="EF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1480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Calibri"/>
              </a:rPr>
              <a:t>Facility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114800"/>
            <a:ext cx="6492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React.js, mobile-first for low-end Android tablets/phones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663440"/>
            <a:ext cx="109728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77316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Calibri"/>
              </a:rPr>
              <a:t>Patient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4773168"/>
            <a:ext cx="6492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Installable PWA (works on 2G, no app-store dependency)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321808"/>
            <a:ext cx="10972800" cy="658368"/>
          </a:xfrm>
          <a:prstGeom prst="rect">
            <a:avLst/>
          </a:prstGeom>
          <a:solidFill>
            <a:srgbClr val="EF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43153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Calibri"/>
              </a:rPr>
              <a:t>Hosting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431536"/>
            <a:ext cx="6492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Lightweight cloud (uvicorn) behind Cloudflare tunnel — small payloads on weak links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  <a:latin typeface="Calibri"/>
              </a:rPr>
              <a:t>Single FastAPI service · SQLite/PostgreSQL · Africa's Talking · runs offline-first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105" y="1234440"/>
            <a:ext cx="6729485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Working prototype — end to end,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651760" cy="1463040"/>
          </a:xfrm>
          <a:prstGeom prst="rect">
            <a:avLst/>
          </a:prstGeom>
          <a:solidFill>
            <a:srgbClr val="EF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73152" cy="14630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3619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4ED8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USSD menus: triage, book, my appointments, facility search, health guide, opt-out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371600"/>
            <a:ext cx="2651760" cy="1463040"/>
          </a:xfrm>
          <a:prstGeom prst="rect">
            <a:avLst/>
          </a:prstGeom>
          <a:solidFill>
            <a:srgbClr val="EF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371600"/>
            <a:ext cx="73152" cy="14630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53619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4ED8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Seeded facilities across Dodoma, Morogoro &amp; Singida regions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2651760" cy="1463040"/>
          </a:xfrm>
          <a:prstGeom prst="rect">
            <a:avLst/>
          </a:prstGeom>
          <a:solidFill>
            <a:srgbClr val="EF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73152" cy="14630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3619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4ED8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Apps in one: USSD · patient PWA · nurse dashboard · SMS reminders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371600"/>
            <a:ext cx="2651760" cy="1463040"/>
          </a:xfrm>
          <a:prstGeom prst="rect">
            <a:avLst/>
          </a:prstGeom>
          <a:solidFill>
            <a:srgbClr val="EF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0" y="1371600"/>
            <a:ext cx="73152" cy="14630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53619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4ED8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Channels for USSD: live Africa's Talking callback + built-in simulator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0040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Full data model: </a:t>
            </a:r>
            <a:r>
              <a:rPr sz="1600">
                <a:solidFill>
                  <a:srgbClr val="1E293B"/>
                </a:solidFill>
              </a:rPr>
              <a:t>patients (incl. anonymous), facilities + services, slots, appointments, queue entries, triage sessions — all Alembic-migrated.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Integrations live: </a:t>
            </a:r>
            <a:r>
              <a:rPr sz="1600">
                <a:solidFill>
                  <a:srgbClr val="1E293B"/>
                </a:solidFill>
              </a:rPr>
              <a:t>Africa's Talking USSD + SMS reminders with dedup, Cloudflare tunnel for a public HTTPS URL on demo day.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Deployable anywhere: </a:t>
            </a:r>
            <a:r>
              <a:rPr sz="1600">
                <a:solidFill>
                  <a:srgbClr val="1E293B"/>
                </a:solidFill>
              </a:rPr>
              <a:t>uvicorn + SQLite works on a laptop with no internet — important for rural clinics.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Honest prototype: </a:t>
            </a:r>
            <a:r>
              <a:rPr sz="1600">
                <a:solidFill>
                  <a:srgbClr val="1E293B"/>
                </a:solidFill>
              </a:rPr>
              <a:t>clearly labelled not-for-clinical-use; triage rules need medical sign-off before real patients.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Impact — why this matters for Tanzania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Cuts waiting time. </a:t>
            </a:r>
            <a:r>
              <a:rPr sz="1600">
                <a:solidFill>
                  <a:srgbClr val="1E293B"/>
                </a:solidFill>
              </a:rPr>
              <a:t>Pre-arrival triage + booked slots mean stable, predictable visits instead of 5am queues.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Catches emergencies earlier. </a:t>
            </a:r>
            <a:r>
              <a:rPr sz="1600">
                <a:solidFill>
                  <a:srgbClr val="1E293B"/>
                </a:solidFill>
              </a:rPr>
              <a:t>RED flags surface before the patient joins the line — the nurse sees them first on the dashboard.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Includes everyone. </a:t>
            </a:r>
            <a:r>
              <a:rPr sz="1600">
                <a:solidFill>
                  <a:srgbClr val="1E293B"/>
                </a:solidFill>
              </a:rPr>
              <a:t>Feature phones, walk-ins and SIM-less patients use the same fair system.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Gives clinics evidence. </a:t>
            </a:r>
            <a:r>
              <a:rPr sz="1600">
                <a:solidFill>
                  <a:srgbClr val="1E293B"/>
                </a:solidFill>
              </a:rPr>
              <a:t>Forecasts demand per slot; the fairness report turns equity from a slogan into a metric.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Scales by SMS. </a:t>
            </a:r>
            <a:r>
              <a:rPr sz="1600">
                <a:solidFill>
                  <a:srgbClr val="1E293B"/>
                </a:solidFill>
              </a:rPr>
              <a:t>No app downloads, no data bundles — the channel Tanzania already uses for everything.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Success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AFE"/>
                </a:solidFill>
                <a:latin typeface="Calibri"/>
              </a:rPr>
              <a:t>The exact metrics from our proposal — measured before/after the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Reduced average physical wait time. </a:t>
            </a:r>
            <a:r>
              <a:rPr sz="1600">
                <a:solidFill>
                  <a:srgbClr val="1E293B"/>
                </a:solidFill>
              </a:rPr>
              <a:t>Baseline vs post-pilot, measured in minutes at the facility (analytics already records every wait).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Correct deferral rate. </a:t>
            </a:r>
            <a:r>
              <a:rPr sz="1600">
                <a:solidFill>
                  <a:srgbClr val="1E293B"/>
                </a:solidFill>
              </a:rPr>
              <a:t>% of USSD triage sessions that correctly deferred non-urgent cases to self-care or a booked slot — validated against clinician review (feedback loop is live).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Flatter demand curve. </a:t>
            </a:r>
            <a:r>
              <a:rPr sz="1600">
                <a:solidFill>
                  <a:srgbClr val="1E293B"/>
                </a:solidFill>
              </a:rPr>
              <a:t>Smaller gap between peak-hour and off-peak volume after slot adoption — the forecast shows expected wait per slot to steer patients off the 6–9 AM peak.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Adoption rate. </a:t>
            </a:r>
            <a:r>
              <a:rPr sz="1600">
                <a:solidFill>
                  <a:srgbClr val="1E293B"/>
                </a:solidFill>
              </a:rPr>
              <a:t>Patients per week using USSD booking vs walk-in, plus repeat usage (tracked per patient).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Zero missed emergencies. </a:t>
            </a:r>
            <a:r>
              <a:rPr sz="1600">
                <a:solidFill>
                  <a:srgbClr val="1E293B"/>
                </a:solidFill>
              </a:rPr>
              <a:t>No case where a true emergency was delayed by triage or queue flow — audited via emergency-bypass flags and facility incident review.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Now (hackathon). </a:t>
            </a:r>
            <a:r>
              <a:rPr sz="1600">
                <a:solidFill>
                  <a:srgbClr val="1E293B"/>
                </a:solidFill>
              </a:rPr>
              <a:t>USSD triage + booking, nurse dashboard, fairness report, SMS reminders — all working.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Next 3 months. </a:t>
            </a:r>
            <a:r>
              <a:rPr sz="1600">
                <a:solidFill>
                  <a:srgbClr val="1E293B"/>
                </a:solidFill>
              </a:rPr>
              <a:t>Pilot with 2–3 public dispensaries; medical board review of triage rules; voice (IVR) menu for low literacy.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Next 6 months. </a:t>
            </a:r>
            <a:r>
              <a:rPr sz="1600">
                <a:solidFill>
                  <a:srgbClr val="1E293B"/>
                </a:solidFill>
              </a:rPr>
              <a:t>Retrain triage on real clinician feedback; integrate CHAT/WhatsApp channel; county-level demand dashboards.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12 months. </a:t>
            </a:r>
            <a:r>
              <a:rPr sz="1600">
                <a:solidFill>
                  <a:srgbClr val="1E293B"/>
                </a:solidFill>
              </a:rPr>
              <a:t>District health authority deployments; open fairness metrics published per facility.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Pilot partners. </a:t>
            </a:r>
            <a:r>
              <a:rPr sz="1600">
                <a:solidFill>
                  <a:srgbClr val="1E293B"/>
                </a:solidFill>
              </a:rPr>
              <a:t>Public clinics willing to run a 90-day pilot with the nurse dashboard and USSD line.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Clinical review. </a:t>
            </a:r>
            <a:r>
              <a:rPr sz="1600">
                <a:solidFill>
                  <a:srgbClr val="1E293B"/>
                </a:solidFill>
              </a:rPr>
              <a:t>Medical professionals to sign off (and challenge) the triage rules — a stated condition of this prototype.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Mentorship on compliance. </a:t>
            </a:r>
            <a:r>
              <a:rPr sz="1600">
                <a:solidFill>
                  <a:srgbClr val="1E293B"/>
                </a:solidFill>
              </a:rPr>
              <a:t>Tanzania Medicines and Medical Devices Authority (TMDA) and data-protection (PDPA) pathways.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•  </a:t>
            </a:r>
            <a:r>
              <a:rPr sz="1600" b="1">
                <a:solidFill>
                  <a:srgbClr val="1E293B"/>
                </a:solidFill>
              </a:rPr>
              <a:t>Follow-on support. </a:t>
            </a:r>
            <a:r>
              <a:rPr sz="1600">
                <a:solidFill>
                  <a:srgbClr val="1E293B"/>
                </a:solidFill>
              </a:rPr>
              <a:t>Compute credits and Africa's Talking credits to keep the demo line alive past the hackathon.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4ED8"/>
                </a:solidFill>
                <a:latin typeface="Calibri"/>
              </a:rPr>
              <a:t>Afya Smart — because your place in the queue should never depend on who you are.</a:t>
            </a:r>
          </a:p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github.com/emmanuelbarnabas/afya-smart  ·  demo at /demo on the live server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